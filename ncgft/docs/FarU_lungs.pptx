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7" r:id="rId1"/>
    <p:sldMasterId id="2147483703" r:id="rId2"/>
  </p:sldMasterIdLst>
  <p:sldIdLst>
    <p:sldId id="270" r:id="rId3"/>
    <p:sldId id="337" r:id="rId4"/>
    <p:sldId id="338" r:id="rId5"/>
    <p:sldId id="339" r:id="rId6"/>
    <p:sldId id="342" r:id="rId7"/>
    <p:sldId id="341" r:id="rId8"/>
    <p:sldId id="340" r:id="rId9"/>
    <p:sldId id="343" r:id="rId1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1B23"/>
    <a:srgbClr val="0037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699" autoAdjust="0"/>
    <p:restoredTop sz="95866" autoAdjust="0"/>
  </p:normalViewPr>
  <p:slideViewPr>
    <p:cSldViewPr snapToGrid="0">
      <p:cViewPr varScale="1">
        <p:scale>
          <a:sx n="130" d="100"/>
          <a:sy n="130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jpe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jpe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rostokąt 32">
            <a:extLst>
              <a:ext uri="{FF2B5EF4-FFF2-40B4-BE49-F238E27FC236}">
                <a16:creationId xmlns:a16="http://schemas.microsoft.com/office/drawing/2014/main" id="{615CF78E-6154-4FA5-B218-72F8B2D9EE6A}"/>
              </a:ext>
            </a:extLst>
          </p:cNvPr>
          <p:cNvSpPr/>
          <p:nvPr userDrawn="1"/>
        </p:nvSpPr>
        <p:spPr>
          <a:xfrm>
            <a:off x="0" y="-2760"/>
            <a:ext cx="12192000" cy="6860760"/>
          </a:xfrm>
          <a:prstGeom prst="rect">
            <a:avLst/>
          </a:prstGeom>
          <a:solidFill>
            <a:srgbClr val="0037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l-P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88CEEC7-A993-1666-4387-4A5DC0B322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16" y="141378"/>
            <a:ext cx="3344893" cy="58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838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awartość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888160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49630" y="1520040"/>
            <a:ext cx="10515600" cy="465692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E033D7D2-7D6C-4345-BF07-E5F00439D8B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34" y="6166848"/>
            <a:ext cx="970421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Obraz 8" descr="Obraz zawierający tekst, znak&#10;&#10;Opis wygenerowany automatycznie">
            <a:extLst>
              <a:ext uri="{FF2B5EF4-FFF2-40B4-BE49-F238E27FC236}">
                <a16:creationId xmlns:a16="http://schemas.microsoft.com/office/drawing/2014/main" id="{7F82BA91-4FE6-4744-97EA-F0F0DFD159C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238" y="6306290"/>
            <a:ext cx="775444" cy="41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812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awartość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888160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49630" y="1520040"/>
            <a:ext cx="10515600" cy="465692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5815" y="6265861"/>
            <a:ext cx="1680369" cy="55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413" y="6249987"/>
            <a:ext cx="1732781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" name="Picture 10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336" y="6240461"/>
            <a:ext cx="1081599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328215"/>
            <a:ext cx="9150351" cy="116898"/>
          </a:xfrm>
          <a:prstGeom prst="rect">
            <a:avLst/>
          </a:prstGeom>
          <a:solidFill>
            <a:srgbClr val="ED238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 sz="1800"/>
          </a:p>
        </p:txBody>
      </p:sp>
      <p:pic>
        <p:nvPicPr>
          <p:cNvPr id="15" name="Picture 7">
            <a:extLst>
              <a:ext uri="{FF2B5EF4-FFF2-40B4-BE49-F238E27FC236}">
                <a16:creationId xmlns:a16="http://schemas.microsoft.com/office/drawing/2014/main" id="{56223E42-880D-4FAA-AE91-4F62A1843BD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34" y="6166848"/>
            <a:ext cx="970421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" name="Obraz 15" descr="Obraz zawierający tekst, znak&#10;&#10;Opis wygenerowany automatycznie">
            <a:extLst>
              <a:ext uri="{FF2B5EF4-FFF2-40B4-BE49-F238E27FC236}">
                <a16:creationId xmlns:a16="http://schemas.microsoft.com/office/drawing/2014/main" id="{9398780A-5B26-4161-894E-799653848DE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238" y="6306290"/>
            <a:ext cx="775444" cy="41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165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awartość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051560" y="365128"/>
            <a:ext cx="10241864" cy="888160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49630" y="1520040"/>
            <a:ext cx="10515600" cy="4656923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pl-PL" dirty="0"/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0FD0610E-9593-4853-A80E-B552EA726C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34" y="20640"/>
            <a:ext cx="970421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Obraz 8" descr="Obraz zawierający tekst, znak&#10;&#10;Opis wygenerowany automatycznie">
            <a:extLst>
              <a:ext uri="{FF2B5EF4-FFF2-40B4-BE49-F238E27FC236}">
                <a16:creationId xmlns:a16="http://schemas.microsoft.com/office/drawing/2014/main" id="{98F3D221-A366-443E-8B00-E76865FE59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238" y="160082"/>
            <a:ext cx="775444" cy="41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14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zawartość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888160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849630" y="1520040"/>
            <a:ext cx="10515600" cy="4656923"/>
          </a:xfrm>
        </p:spPr>
        <p:txBody>
          <a:bodyPr/>
          <a:lstStyle/>
          <a:p>
            <a:pPr lvl="0"/>
            <a:r>
              <a:rPr lang="pl-PL" dirty="0"/>
              <a:t>Kliknij, aby edytować style wzorca tekstu</a:t>
            </a:r>
          </a:p>
          <a:p>
            <a:pPr lvl="1"/>
            <a:r>
              <a:rPr lang="pl-PL" dirty="0"/>
              <a:t>Drugi poziom</a:t>
            </a:r>
          </a:p>
          <a:p>
            <a:pPr lvl="2"/>
            <a:r>
              <a:rPr lang="pl-PL" dirty="0"/>
              <a:t>Trzeci poziom</a:t>
            </a:r>
          </a:p>
          <a:p>
            <a:pPr lvl="3"/>
            <a:r>
              <a:rPr lang="pl-PL" dirty="0"/>
              <a:t>Czwarty poziom</a:t>
            </a:r>
          </a:p>
          <a:p>
            <a:pPr lvl="4"/>
            <a:r>
              <a:rPr lang="pl-PL" dirty="0"/>
              <a:t>Piąty poziom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5815" y="6265861"/>
            <a:ext cx="1680369" cy="554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9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413" y="6249987"/>
            <a:ext cx="1732781" cy="560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" name="Picture 10"/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336" y="6240461"/>
            <a:ext cx="1081599" cy="604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>
            <a:spLocks noChangeArrowheads="1"/>
          </p:cNvSpPr>
          <p:nvPr userDrawn="1"/>
        </p:nvSpPr>
        <p:spPr bwMode="auto">
          <a:xfrm>
            <a:off x="0" y="1328215"/>
            <a:ext cx="9150351" cy="116898"/>
          </a:xfrm>
          <a:prstGeom prst="rect">
            <a:avLst/>
          </a:prstGeom>
          <a:solidFill>
            <a:srgbClr val="ED238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l-PL" sz="1800"/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606502AD-DBC8-4F55-B4E6-DCFA694A2FF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134" y="6166848"/>
            <a:ext cx="970421" cy="68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" name="Obraz 13" descr="Obraz zawierający tekst, znak&#10;&#10;Opis wygenerowany automatycznie">
            <a:extLst>
              <a:ext uri="{FF2B5EF4-FFF2-40B4-BE49-F238E27FC236}">
                <a16:creationId xmlns:a16="http://schemas.microsoft.com/office/drawing/2014/main" id="{7154CF63-19C4-479A-A331-3ACBB3F8A9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5238" y="6306290"/>
            <a:ext cx="775444" cy="41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753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43"/>
          <p:cNvSpPr>
            <a:spLocks noGrp="1"/>
          </p:cNvSpPr>
          <p:nvPr>
            <p:ph type="sldNum" sz="quarter" idx="2"/>
          </p:nvPr>
        </p:nvSpPr>
        <p:spPr>
          <a:xfrm>
            <a:off x="9448800" y="6495498"/>
            <a:ext cx="2743200" cy="36512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E7F4771E-F833-823C-1C95-DBE1E73B929A}"/>
              </a:ext>
            </a:extLst>
          </p:cNvPr>
          <p:cNvSpPr/>
          <p:nvPr userDrawn="1"/>
        </p:nvSpPr>
        <p:spPr>
          <a:xfrm flipH="1">
            <a:off x="3253122" y="126794"/>
            <a:ext cx="45719" cy="499416"/>
          </a:xfrm>
          <a:prstGeom prst="rect">
            <a:avLst/>
          </a:prstGeom>
          <a:solidFill>
            <a:srgbClr val="00376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3200"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F7E1D99-2112-BDDE-0080-3BF5D29954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73" y="119094"/>
            <a:ext cx="2938055" cy="50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0183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pl-PL" sz="1100" b="0" strike="noStrike" spc="-1">
                <a:solidFill>
                  <a:srgbClr val="D6ECFF"/>
                </a:solidFill>
                <a:uFill>
                  <a:solidFill>
                    <a:srgbClr val="FFFFFF"/>
                  </a:solidFill>
                </a:uFill>
                <a:latin typeface="Corbel"/>
              </a:rPr>
              <a:t>16-6-13</a:t>
            </a:r>
            <a:endParaRPr lang="pl-PL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 sz="2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lnSpc>
                <a:spcPct val="100000"/>
              </a:lnSpc>
            </a:pPr>
            <a:fld id="{EC83BA3A-93AF-437B-A351-1B6726A0D258}" type="slidenum">
              <a:rPr lang="pl-PL" sz="1200" b="0" strike="noStrike" spc="-1" smtClean="0">
                <a:solidFill>
                  <a:srgbClr val="D6ECFF"/>
                </a:solidFill>
                <a:uFill>
                  <a:solidFill>
                    <a:srgbClr val="FFFFFF"/>
                  </a:solidFill>
                </a:uFill>
                <a:latin typeface="Corbel"/>
              </a:rPr>
              <a:t>‹#›</a:t>
            </a:fld>
            <a:endParaRPr lang="pl-PL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48625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0" r:id="rId2"/>
    <p:sldLayoutId id="2147483689" r:id="rId3"/>
    <p:sldLayoutId id="2147483691" r:id="rId4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AFD41-0CE4-4599-8A33-07262201F9A9}" type="datetimeFigureOut">
              <a:rPr lang="pl-PL" smtClean="0"/>
              <a:t>1.12.2025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396F4-0E2F-4F17-8A87-2F0D38729B2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8353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9B9C240-0C92-47F3-B6DB-649FABE5142B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639097" y="1112837"/>
            <a:ext cx="11198942" cy="3665639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pl-PL" sz="44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Proaktywny </a:t>
            </a:r>
            <a:r>
              <a:rPr lang="pl-PL" spc="-1" dirty="0" err="1">
                <a:solidFill>
                  <a:srgbClr val="FFFFFF"/>
                </a:solidFill>
                <a:latin typeface="Arial"/>
                <a:ea typeface="Arial"/>
              </a:rPr>
              <a:t>s</a:t>
            </a:r>
            <a:r>
              <a:rPr lang="pl-PL" sz="44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krining</a:t>
            </a:r>
            <a:r>
              <a:rPr lang="pl-PL" sz="44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 raka </a:t>
            </a:r>
            <a:r>
              <a:rPr lang="pl-PL" spc="-1" dirty="0">
                <a:solidFill>
                  <a:srgbClr val="FFFFFF"/>
                </a:solidFill>
                <a:latin typeface="Arial"/>
                <a:ea typeface="Arial"/>
              </a:rPr>
              <a:t>p</a:t>
            </a:r>
            <a:r>
              <a:rPr lang="pl-PL" sz="44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łuca z wykorzystaniem AI: </a:t>
            </a:r>
            <a:br>
              <a:rPr lang="pl-PL" sz="4400" b="0" strike="noStrike" spc="-1" dirty="0">
                <a:solidFill>
                  <a:srgbClr val="FFFFFF"/>
                </a:solidFill>
                <a:latin typeface="Arial"/>
                <a:ea typeface="Arial"/>
              </a:rPr>
            </a:br>
            <a:r>
              <a:rPr lang="pl-PL" sz="28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dostrojenie modelu NLP do</a:t>
            </a:r>
            <a:br>
              <a:rPr lang="pl-PL" sz="2800" b="0" strike="noStrike" spc="-1" dirty="0">
                <a:solidFill>
                  <a:srgbClr val="FFFFFF"/>
                </a:solidFill>
                <a:latin typeface="Arial"/>
                <a:ea typeface="Arial"/>
              </a:rPr>
            </a:br>
            <a:r>
              <a:rPr lang="pl-PL" sz="28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identyfikacji </a:t>
            </a:r>
            <a:r>
              <a:rPr lang="pl-PL" sz="2800" spc="-1" dirty="0">
                <a:solidFill>
                  <a:srgbClr val="FFFFFF"/>
                </a:solidFill>
                <a:latin typeface="Arial"/>
                <a:ea typeface="Arial"/>
              </a:rPr>
              <a:t>i</a:t>
            </a:r>
            <a:r>
              <a:rPr lang="pl-PL" sz="28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ncydentalnych </a:t>
            </a:r>
            <a:r>
              <a:rPr lang="pl-PL" sz="2800" spc="-1" dirty="0">
                <a:solidFill>
                  <a:srgbClr val="FFFFFF"/>
                </a:solidFill>
                <a:latin typeface="Arial"/>
                <a:ea typeface="Arial"/>
              </a:rPr>
              <a:t>g</a:t>
            </a:r>
            <a:r>
              <a:rPr lang="pl-PL" sz="28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uzków </a:t>
            </a:r>
            <a:r>
              <a:rPr lang="pl-PL" sz="2800" spc="-1" dirty="0">
                <a:solidFill>
                  <a:srgbClr val="FFFFFF"/>
                </a:solidFill>
                <a:latin typeface="Arial"/>
                <a:ea typeface="Arial"/>
              </a:rPr>
              <a:t>p</a:t>
            </a:r>
            <a:r>
              <a:rPr lang="pl-PL" sz="28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łuca (IPN) </a:t>
            </a:r>
            <a:br>
              <a:rPr lang="pl-PL" sz="2800" b="0" strike="noStrike" spc="-1" dirty="0">
                <a:solidFill>
                  <a:srgbClr val="FFFFFF"/>
                </a:solidFill>
                <a:latin typeface="Arial"/>
                <a:ea typeface="Arial"/>
              </a:rPr>
            </a:br>
            <a:r>
              <a:rPr lang="pl-PL" sz="28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w archiwalnych opisach TK UCK </a:t>
            </a:r>
            <a:r>
              <a:rPr lang="pl-PL" sz="2800" b="0" strike="noStrike" spc="-1" dirty="0" err="1">
                <a:solidFill>
                  <a:srgbClr val="FFFFFF"/>
                </a:solidFill>
                <a:latin typeface="Arial"/>
                <a:ea typeface="Arial"/>
              </a:rPr>
              <a:t>GUMed</a:t>
            </a:r>
            <a:r>
              <a:rPr lang="pl-PL" sz="2800" b="0" strike="noStrike" spc="-1" dirty="0">
                <a:solidFill>
                  <a:srgbClr val="FFFFFF"/>
                </a:solidFill>
                <a:latin typeface="Arial"/>
                <a:ea typeface="Arial"/>
              </a:rPr>
              <a:t>.</a:t>
            </a:r>
            <a:endParaRPr lang="pl-PL" sz="4400" b="0" strike="noStrike" spc="-1" dirty="0">
              <a:latin typeface="Arial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C619BB1-FCEC-437C-BC8B-694C6FE0302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66568" y="5149535"/>
            <a:ext cx="9144000" cy="1191253"/>
          </a:xfrm>
        </p:spPr>
        <p:txBody>
          <a:bodyPr/>
          <a:lstStyle/>
          <a:p>
            <a:pPr marL="0" indent="0" algn="ctr">
              <a:buNone/>
            </a:pPr>
            <a:r>
              <a:rPr lang="pl-PL" dirty="0">
                <a:solidFill>
                  <a:schemeClr val="bg1"/>
                </a:solidFill>
              </a:rPr>
              <a:t>Zespół </a:t>
            </a:r>
            <a:r>
              <a:rPr lang="pl-PL" dirty="0" err="1">
                <a:solidFill>
                  <a:schemeClr val="bg1"/>
                </a:solidFill>
              </a:rPr>
              <a:t>GUMed</a:t>
            </a:r>
            <a:r>
              <a:rPr lang="pl-PL" dirty="0">
                <a:solidFill>
                  <a:schemeClr val="bg1"/>
                </a:solidFill>
              </a:rPr>
              <a:t>/PG</a:t>
            </a:r>
          </a:p>
        </p:txBody>
      </p:sp>
      <p:pic>
        <p:nvPicPr>
          <p:cNvPr id="5" name="Obraz 4" descr="Obraz zawierający tekst&#10;&#10;Opis wygenerowany automatycznie">
            <a:extLst>
              <a:ext uri="{FF2B5EF4-FFF2-40B4-BE49-F238E27FC236}">
                <a16:creationId xmlns:a16="http://schemas.microsoft.com/office/drawing/2014/main" id="{902FA96A-5215-A4B8-5FEF-70D689543D3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013766"/>
              </a:clrFrom>
              <a:clrTo>
                <a:srgbClr val="01376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7" t="16698" r="4649" b="12918"/>
          <a:stretch/>
        </p:blipFill>
        <p:spPr>
          <a:xfrm>
            <a:off x="9954508" y="188017"/>
            <a:ext cx="2018956" cy="579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567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FA1F1-6896-BFD7-6F50-CC25792E5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7">
            <a:extLst>
              <a:ext uri="{FF2B5EF4-FFF2-40B4-BE49-F238E27FC236}">
                <a16:creationId xmlns:a16="http://schemas.microsoft.com/office/drawing/2014/main" id="{5BB100E3-DF55-CFA0-DA70-1FAB2E363F45}"/>
              </a:ext>
            </a:extLst>
          </p:cNvPr>
          <p:cNvSpPr/>
          <p:nvPr/>
        </p:nvSpPr>
        <p:spPr>
          <a:xfrm>
            <a:off x="3452506" y="34504"/>
            <a:ext cx="648512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tIns="45720" bIns="45720">
            <a:spAutoFit/>
          </a:bodyPr>
          <a:lstStyle>
            <a:lvl1pPr algn="l" defTabSz="1828800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pl-PL" b="1" dirty="0" err="1">
                <a:solidFill>
                  <a:srgbClr val="003767"/>
                </a:solidFill>
              </a:rPr>
              <a:t>Skrining</a:t>
            </a:r>
            <a:r>
              <a:rPr lang="pl-PL" b="1" dirty="0">
                <a:solidFill>
                  <a:srgbClr val="003767"/>
                </a:solidFill>
              </a:rPr>
              <a:t> raka płuca </a:t>
            </a:r>
          </a:p>
          <a:p>
            <a:r>
              <a:rPr lang="pl-PL" b="1" dirty="0">
                <a:solidFill>
                  <a:srgbClr val="E31B23"/>
                </a:solidFill>
              </a:rPr>
              <a:t>Strojenie NLP</a:t>
            </a:r>
            <a:endParaRPr b="1" dirty="0">
              <a:solidFill>
                <a:srgbClr val="E31B23"/>
              </a:solidFill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AED0300A-A8C6-E415-97E6-8046DF5D173E}"/>
              </a:ext>
            </a:extLst>
          </p:cNvPr>
          <p:cNvSpPr txBox="1"/>
          <p:nvPr/>
        </p:nvSpPr>
        <p:spPr>
          <a:xfrm>
            <a:off x="287806" y="909950"/>
            <a:ext cx="11616387" cy="41592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600"/>
              </a:spcAft>
            </a:pPr>
            <a:r>
              <a:rPr lang="pl-PL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Cel Technologiczny: 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Dostrojenie (fine-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tuning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 modelu NLP (np. Bielik,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HerBERT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 algn="l"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GPT) do głębokiego, kontekstowego rozumienia polskich opisów radiologicznych,</a:t>
            </a:r>
          </a:p>
          <a:p>
            <a:pPr algn="l"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przewyższającego proste wyszukiwanie słów kluczowych.</a:t>
            </a:r>
          </a:p>
          <a:p>
            <a:pPr algn="l">
              <a:spcAft>
                <a:spcPts val="600"/>
              </a:spcAft>
            </a:pPr>
            <a:endParaRPr lang="pl-PL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pl-PL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Cel Transformacyjny: 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Transformacja nieustrukturyzowanego tekstu (opisy radiologiczne)</a:t>
            </a:r>
          </a:p>
          <a:p>
            <a:pPr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 ustrukturyzowane dane przez automatyczną ekstrakcję cech guzka (lokalizacja,</a:t>
            </a:r>
          </a:p>
          <a:p>
            <a:pPr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wymiary, charakterystyka, progresja).</a:t>
            </a:r>
          </a:p>
          <a:p>
            <a:pPr algn="l">
              <a:spcAft>
                <a:spcPts val="600"/>
              </a:spcAft>
            </a:pPr>
            <a:endParaRPr lang="pl-PL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endParaRPr lang="pl-PL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4090274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121E1-64D8-806F-B547-B53EF2F38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7">
            <a:extLst>
              <a:ext uri="{FF2B5EF4-FFF2-40B4-BE49-F238E27FC236}">
                <a16:creationId xmlns:a16="http://schemas.microsoft.com/office/drawing/2014/main" id="{8669608A-EBA6-937D-5EB8-2D950D1FAB61}"/>
              </a:ext>
            </a:extLst>
          </p:cNvPr>
          <p:cNvSpPr/>
          <p:nvPr/>
        </p:nvSpPr>
        <p:spPr>
          <a:xfrm>
            <a:off x="3452506" y="34504"/>
            <a:ext cx="648512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tIns="45720" bIns="45720">
            <a:spAutoFit/>
          </a:bodyPr>
          <a:lstStyle>
            <a:lvl1pPr algn="l" defTabSz="1828800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pl-PL" b="1" dirty="0" err="1">
                <a:solidFill>
                  <a:srgbClr val="003767"/>
                </a:solidFill>
              </a:rPr>
              <a:t>Skrining</a:t>
            </a:r>
            <a:r>
              <a:rPr lang="pl-PL" b="1" dirty="0">
                <a:solidFill>
                  <a:srgbClr val="003767"/>
                </a:solidFill>
              </a:rPr>
              <a:t> raka płuca </a:t>
            </a:r>
          </a:p>
          <a:p>
            <a:r>
              <a:rPr lang="pl-PL" b="1" dirty="0">
                <a:solidFill>
                  <a:srgbClr val="E31B23"/>
                </a:solidFill>
              </a:rPr>
              <a:t>Strojenie NLP</a:t>
            </a:r>
            <a:endParaRPr b="1" dirty="0">
              <a:solidFill>
                <a:srgbClr val="E31B23"/>
              </a:solidFill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2FCFE886-CAC4-D531-F87C-E642042AA0B1}"/>
              </a:ext>
            </a:extLst>
          </p:cNvPr>
          <p:cNvSpPr txBox="1"/>
          <p:nvPr/>
        </p:nvSpPr>
        <p:spPr>
          <a:xfrm>
            <a:off x="287806" y="909950"/>
            <a:ext cx="11616387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Modele LLM, ogólne, otwarte licencje: </a:t>
            </a:r>
            <a:r>
              <a:rPr lang="pl-PL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Mistral (Bielik), </a:t>
            </a:r>
            <a:r>
              <a:rPr lang="pl-PL" sz="2400" b="1" dirty="0" err="1"/>
              <a:t>Llama</a:t>
            </a:r>
            <a:r>
              <a:rPr lang="pl-PL" sz="2400" b="1" dirty="0"/>
              <a:t> 3, </a:t>
            </a:r>
            <a:r>
              <a:rPr lang="pl-PL" sz="2400" b="1" dirty="0" err="1"/>
              <a:t>Qwen</a:t>
            </a:r>
            <a:r>
              <a:rPr lang="pl-PL" sz="2400" b="1" dirty="0"/>
              <a:t>, itd.</a:t>
            </a:r>
          </a:p>
          <a:p>
            <a:pPr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Modele LLM, przetrenowane dla danych medycznych: </a:t>
            </a:r>
            <a:r>
              <a:rPr lang="pl-PL" sz="24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Meditron</a:t>
            </a:r>
            <a:r>
              <a:rPr lang="pl-PL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l-PL" sz="24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BioMistral</a:t>
            </a:r>
            <a:r>
              <a:rPr lang="pl-PL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pl-PL" sz="2400" b="1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Hippo</a:t>
            </a:r>
            <a:r>
              <a:rPr lang="pl-PL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itd. </a:t>
            </a:r>
          </a:p>
          <a:p>
            <a:pPr>
              <a:spcAft>
                <a:spcPts val="600"/>
              </a:spcAft>
            </a:pPr>
            <a:endParaRPr lang="pl-PL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pl-PL" sz="24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Przykładowe, wstępnie rozpatrywane modele strojenia:</a:t>
            </a:r>
          </a:p>
          <a:p>
            <a:pPr>
              <a:spcAft>
                <a:spcPts val="600"/>
              </a:spcAft>
            </a:pPr>
            <a:endParaRPr lang="pl-PL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Zastosowanie podejścia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do strojenia modeli LLM w celu klasyfikacji czy opis zawiera treści potencjalnie związane z IPN (0/1, No/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Zastosowanie podejścia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do strojenia modeli LLM w celu detekcji kategorii nazw (NER –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Named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Entity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Recognition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np.: zmiana, lokalizacja, wymiary, itd.).</a:t>
            </a:r>
          </a:p>
          <a:p>
            <a:pPr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Zastosowanie podejścia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do strojenia modeli LLM w celu generacji opisu strukturalnego (formatowanie wyniku według schematu).</a:t>
            </a:r>
          </a:p>
          <a:p>
            <a:pPr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4. Inne.</a:t>
            </a:r>
          </a:p>
          <a:p>
            <a:pPr marL="342900" indent="-342900">
              <a:spcAft>
                <a:spcPts val="600"/>
              </a:spcAft>
              <a:buFontTx/>
              <a:buChar char="-"/>
            </a:pPr>
            <a:endParaRPr lang="pl-PL" sz="2400" b="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600"/>
              </a:spcAft>
              <a:buFontTx/>
              <a:buChar char="-"/>
            </a:pPr>
            <a:endParaRPr lang="pl-PL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4661804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D521C-4D61-680B-6AD5-4E8133139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7">
            <a:extLst>
              <a:ext uri="{FF2B5EF4-FFF2-40B4-BE49-F238E27FC236}">
                <a16:creationId xmlns:a16="http://schemas.microsoft.com/office/drawing/2014/main" id="{D8AE118A-4BFB-6A12-0404-E9612A26C332}"/>
              </a:ext>
            </a:extLst>
          </p:cNvPr>
          <p:cNvSpPr/>
          <p:nvPr/>
        </p:nvSpPr>
        <p:spPr>
          <a:xfrm>
            <a:off x="3452506" y="34504"/>
            <a:ext cx="648512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tIns="45720" bIns="45720">
            <a:spAutoFit/>
          </a:bodyPr>
          <a:lstStyle>
            <a:lvl1pPr algn="l" defTabSz="1828800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pl-PL" b="1" dirty="0" err="1">
                <a:solidFill>
                  <a:srgbClr val="003767"/>
                </a:solidFill>
              </a:rPr>
              <a:t>Skrining</a:t>
            </a:r>
            <a:r>
              <a:rPr lang="pl-PL" b="1" dirty="0">
                <a:solidFill>
                  <a:srgbClr val="003767"/>
                </a:solidFill>
              </a:rPr>
              <a:t> raka płuca </a:t>
            </a:r>
          </a:p>
          <a:p>
            <a:r>
              <a:rPr lang="pl-PL" b="1" dirty="0">
                <a:solidFill>
                  <a:srgbClr val="E31B23"/>
                </a:solidFill>
              </a:rPr>
              <a:t>Strojenie NLP</a:t>
            </a:r>
            <a:endParaRPr b="1" dirty="0">
              <a:solidFill>
                <a:srgbClr val="E31B23"/>
              </a:solidFill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2706BEAA-3C50-FBDC-889A-7F9ECDD1AA51}"/>
              </a:ext>
            </a:extLst>
          </p:cNvPr>
          <p:cNvSpPr txBox="1"/>
          <p:nvPr/>
        </p:nvSpPr>
        <p:spPr>
          <a:xfrm>
            <a:off x="287806" y="909950"/>
            <a:ext cx="116163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Zastosowanie podejścia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do strojenia modeli LLM w celu klasyfikacji czy opis zawiera treści potencjalnie związane z IPN (0/1, No/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258A8D7F-99B3-4D2D-08C9-2F1FBB213FB1}"/>
              </a:ext>
            </a:extLst>
          </p:cNvPr>
          <p:cNvSpPr/>
          <p:nvPr/>
        </p:nvSpPr>
        <p:spPr>
          <a:xfrm>
            <a:off x="127820" y="2314629"/>
            <a:ext cx="1592825" cy="1982067"/>
          </a:xfrm>
          <a:prstGeom prst="rect">
            <a:avLst/>
          </a:prstGeom>
          <a:solidFill>
            <a:schemeClr val="accent2"/>
          </a:solidFill>
          <a:ln w="25400" cmpd="sng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pl-PL" sz="2800" dirty="0">
                <a:solidFill>
                  <a:schemeClr val="bg1"/>
                </a:solidFill>
              </a:rPr>
              <a:t>Wybierz model LLM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15C5923A-FAF0-987B-9D72-8DF3E0F18765}"/>
              </a:ext>
            </a:extLst>
          </p:cNvPr>
          <p:cNvSpPr/>
          <p:nvPr/>
        </p:nvSpPr>
        <p:spPr>
          <a:xfrm>
            <a:off x="2154648" y="2314628"/>
            <a:ext cx="2073223" cy="1982067"/>
          </a:xfrm>
          <a:prstGeom prst="rect">
            <a:avLst/>
          </a:prstGeom>
          <a:solidFill>
            <a:schemeClr val="accent2"/>
          </a:solidFill>
          <a:ln w="25400" cmpd="sng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pl-PL" sz="2800" dirty="0">
                <a:solidFill>
                  <a:schemeClr val="bg1"/>
                </a:solidFill>
              </a:rPr>
              <a:t>Przygotuj nowe dane dziedzinowe</a:t>
            </a:r>
          </a:p>
        </p:txBody>
      </p:sp>
      <p:sp>
        <p:nvSpPr>
          <p:cNvPr id="5" name="Prostokąt 4">
            <a:extLst>
              <a:ext uri="{FF2B5EF4-FFF2-40B4-BE49-F238E27FC236}">
                <a16:creationId xmlns:a16="http://schemas.microsoft.com/office/drawing/2014/main" id="{8B18A0FD-49B2-6E55-4C82-0590778E1594}"/>
              </a:ext>
            </a:extLst>
          </p:cNvPr>
          <p:cNvSpPr/>
          <p:nvPr/>
        </p:nvSpPr>
        <p:spPr>
          <a:xfrm>
            <a:off x="4661874" y="2314627"/>
            <a:ext cx="2773397" cy="1982067"/>
          </a:xfrm>
          <a:prstGeom prst="rect">
            <a:avLst/>
          </a:prstGeom>
          <a:solidFill>
            <a:schemeClr val="accent2"/>
          </a:solidFill>
          <a:ln w="25400" cmpd="sng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pl-PL" sz="2800" dirty="0">
                <a:solidFill>
                  <a:schemeClr val="bg1"/>
                </a:solidFill>
              </a:rPr>
              <a:t>Zdefiniuj metodę i parametry strojenia (np. </a:t>
            </a:r>
            <a:r>
              <a:rPr lang="pl-PL" sz="2800" dirty="0" err="1">
                <a:solidFill>
                  <a:schemeClr val="bg1"/>
                </a:solidFill>
              </a:rPr>
              <a:t>LoRA</a:t>
            </a:r>
            <a:r>
              <a:rPr lang="pl-PL" sz="28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7" name="Prostokąt 6">
            <a:extLst>
              <a:ext uri="{FF2B5EF4-FFF2-40B4-BE49-F238E27FC236}">
                <a16:creationId xmlns:a16="http://schemas.microsoft.com/office/drawing/2014/main" id="{34A05EA5-8D72-15FD-B17F-DD2A0D9DAFDC}"/>
              </a:ext>
            </a:extLst>
          </p:cNvPr>
          <p:cNvSpPr/>
          <p:nvPr/>
        </p:nvSpPr>
        <p:spPr>
          <a:xfrm>
            <a:off x="7869274" y="2314627"/>
            <a:ext cx="1998288" cy="1982067"/>
          </a:xfrm>
          <a:prstGeom prst="rect">
            <a:avLst/>
          </a:prstGeom>
          <a:solidFill>
            <a:schemeClr val="accent2"/>
          </a:solidFill>
          <a:ln w="25400" cmpd="sng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pl-PL" sz="2800" dirty="0">
                <a:solidFill>
                  <a:schemeClr val="bg1"/>
                </a:solidFill>
              </a:rPr>
              <a:t>Trenuj model (strojenie)</a:t>
            </a:r>
          </a:p>
        </p:txBody>
      </p:sp>
      <p:sp>
        <p:nvSpPr>
          <p:cNvPr id="8" name="Prostokąt 7">
            <a:extLst>
              <a:ext uri="{FF2B5EF4-FFF2-40B4-BE49-F238E27FC236}">
                <a16:creationId xmlns:a16="http://schemas.microsoft.com/office/drawing/2014/main" id="{53E8A941-AE0D-931D-A477-7E649B18DC0B}"/>
              </a:ext>
            </a:extLst>
          </p:cNvPr>
          <p:cNvSpPr/>
          <p:nvPr/>
        </p:nvSpPr>
        <p:spPr>
          <a:xfrm>
            <a:off x="10301565" y="2314626"/>
            <a:ext cx="1819630" cy="1982067"/>
          </a:xfrm>
          <a:prstGeom prst="rect">
            <a:avLst/>
          </a:prstGeom>
          <a:solidFill>
            <a:schemeClr val="accent2"/>
          </a:solidFill>
          <a:ln w="25400" cmpd="sng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pl-PL" sz="2800" dirty="0">
                <a:solidFill>
                  <a:schemeClr val="bg1"/>
                </a:solidFill>
              </a:rPr>
              <a:t>Stosuj model</a:t>
            </a:r>
          </a:p>
        </p:txBody>
      </p:sp>
      <p:sp>
        <p:nvSpPr>
          <p:cNvPr id="9" name="Strzałka w prawo 8">
            <a:extLst>
              <a:ext uri="{FF2B5EF4-FFF2-40B4-BE49-F238E27FC236}">
                <a16:creationId xmlns:a16="http://schemas.microsoft.com/office/drawing/2014/main" id="{A5114C62-D10C-8C53-D010-26C25799798B}"/>
              </a:ext>
            </a:extLst>
          </p:cNvPr>
          <p:cNvSpPr/>
          <p:nvPr/>
        </p:nvSpPr>
        <p:spPr>
          <a:xfrm>
            <a:off x="1774722" y="3174155"/>
            <a:ext cx="325848" cy="263013"/>
          </a:xfrm>
          <a:prstGeom prst="rightArrow">
            <a:avLst/>
          </a:prstGeom>
          <a:ln w="25400" cmpd="sng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Strzałka w prawo 9">
            <a:extLst>
              <a:ext uri="{FF2B5EF4-FFF2-40B4-BE49-F238E27FC236}">
                <a16:creationId xmlns:a16="http://schemas.microsoft.com/office/drawing/2014/main" id="{A63E6AC5-0098-2F5B-4012-0807E26643BC}"/>
              </a:ext>
            </a:extLst>
          </p:cNvPr>
          <p:cNvSpPr/>
          <p:nvPr/>
        </p:nvSpPr>
        <p:spPr>
          <a:xfrm>
            <a:off x="4281948" y="3174155"/>
            <a:ext cx="325848" cy="263013"/>
          </a:xfrm>
          <a:prstGeom prst="rightArrow">
            <a:avLst/>
          </a:prstGeom>
          <a:ln w="25400" cmpd="sng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Strzałka w prawo 10">
            <a:extLst>
              <a:ext uri="{FF2B5EF4-FFF2-40B4-BE49-F238E27FC236}">
                <a16:creationId xmlns:a16="http://schemas.microsoft.com/office/drawing/2014/main" id="{AB838303-FDDD-934B-6D22-50E6FBCD6631}"/>
              </a:ext>
            </a:extLst>
          </p:cNvPr>
          <p:cNvSpPr/>
          <p:nvPr/>
        </p:nvSpPr>
        <p:spPr>
          <a:xfrm>
            <a:off x="7489348" y="3165987"/>
            <a:ext cx="325848" cy="263013"/>
          </a:xfrm>
          <a:prstGeom prst="rightArrow">
            <a:avLst/>
          </a:prstGeom>
          <a:ln w="25400" cmpd="sng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2" name="Strzałka w prawo 11">
            <a:extLst>
              <a:ext uri="{FF2B5EF4-FFF2-40B4-BE49-F238E27FC236}">
                <a16:creationId xmlns:a16="http://schemas.microsoft.com/office/drawing/2014/main" id="{A2E0CD1F-BC8B-F9FC-9391-51D9B2BFA80D}"/>
              </a:ext>
            </a:extLst>
          </p:cNvPr>
          <p:cNvSpPr/>
          <p:nvPr/>
        </p:nvSpPr>
        <p:spPr>
          <a:xfrm>
            <a:off x="9927099" y="3174155"/>
            <a:ext cx="325848" cy="263013"/>
          </a:xfrm>
          <a:prstGeom prst="rightArrow">
            <a:avLst/>
          </a:prstGeom>
          <a:ln w="25400" cmpd="sng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39435364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9AC09-1E67-F9E5-EA3E-9C43B460F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7">
            <a:extLst>
              <a:ext uri="{FF2B5EF4-FFF2-40B4-BE49-F238E27FC236}">
                <a16:creationId xmlns:a16="http://schemas.microsoft.com/office/drawing/2014/main" id="{EECF98DB-B639-4FE3-3A10-E6F9B73752E3}"/>
              </a:ext>
            </a:extLst>
          </p:cNvPr>
          <p:cNvSpPr/>
          <p:nvPr/>
        </p:nvSpPr>
        <p:spPr>
          <a:xfrm>
            <a:off x="3452506" y="34504"/>
            <a:ext cx="648512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tIns="45720" bIns="45720">
            <a:spAutoFit/>
          </a:bodyPr>
          <a:lstStyle>
            <a:lvl1pPr algn="l" defTabSz="1828800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pl-PL" b="1" dirty="0" err="1">
                <a:solidFill>
                  <a:srgbClr val="003767"/>
                </a:solidFill>
              </a:rPr>
              <a:t>Skrining</a:t>
            </a:r>
            <a:r>
              <a:rPr lang="pl-PL" b="1" dirty="0">
                <a:solidFill>
                  <a:srgbClr val="003767"/>
                </a:solidFill>
              </a:rPr>
              <a:t> raka płuca </a:t>
            </a:r>
          </a:p>
          <a:p>
            <a:r>
              <a:rPr lang="pl-PL" b="1" dirty="0">
                <a:solidFill>
                  <a:srgbClr val="E31B23"/>
                </a:solidFill>
              </a:rPr>
              <a:t>Strojenie NLP</a:t>
            </a:r>
            <a:endParaRPr b="1" dirty="0">
              <a:solidFill>
                <a:srgbClr val="E31B23"/>
              </a:solidFill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91F17E20-A05C-EEF9-9EC6-760BDF24A024}"/>
              </a:ext>
            </a:extLst>
          </p:cNvPr>
          <p:cNvSpPr txBox="1"/>
          <p:nvPr/>
        </p:nvSpPr>
        <p:spPr>
          <a:xfrm>
            <a:off x="287806" y="575654"/>
            <a:ext cx="11616387" cy="1404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Zastosowanie podejścia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do strojenia modeli LLM w celu klasyfikacji czy opis zawiera treści potencjalnie związane z IPN (0/1, No/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endParaRPr lang="pl-PL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Obraz 3" descr="Obraz zawierający tekst, zrzut ekranu, oprogramowanie&#10;&#10;Zawartość wygenerowana przez AI może być niepoprawna.">
            <a:extLst>
              <a:ext uri="{FF2B5EF4-FFF2-40B4-BE49-F238E27FC236}">
                <a16:creationId xmlns:a16="http://schemas.microsoft.com/office/drawing/2014/main" id="{2226BE55-1CA1-0650-D614-28F564CC7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1" y="1538657"/>
            <a:ext cx="4351762" cy="5295445"/>
          </a:xfrm>
          <a:prstGeom prst="rect">
            <a:avLst/>
          </a:prstGeom>
        </p:spPr>
      </p:pic>
      <p:pic>
        <p:nvPicPr>
          <p:cNvPr id="7" name="Obraz 6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358E9762-CDDE-AC11-ECF6-75D9EB94DE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569" y="1980334"/>
            <a:ext cx="6920624" cy="1685281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EDAE5500-9F62-7EED-BF71-7067004AE0E6}"/>
              </a:ext>
            </a:extLst>
          </p:cNvPr>
          <p:cNvSpPr txBox="1"/>
          <p:nvPr/>
        </p:nvSpPr>
        <p:spPr>
          <a:xfrm>
            <a:off x="4896464" y="1611002"/>
            <a:ext cx="72955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Baza nowych przykładów (</a:t>
            </a:r>
            <a:r>
              <a:rPr lang="pl-PL" b="1" dirty="0">
                <a:solidFill>
                  <a:schemeClr val="accent2">
                    <a:lumMod val="75000"/>
                  </a:schemeClr>
                </a:solidFill>
              </a:rPr>
              <a:t>MOLTEST, MOLTEST BIS i MULTIPREVENT)</a:t>
            </a:r>
          </a:p>
        </p:txBody>
      </p:sp>
      <p:sp>
        <p:nvSpPr>
          <p:cNvPr id="8" name="Strzałka w prawo 7">
            <a:extLst>
              <a:ext uri="{FF2B5EF4-FFF2-40B4-BE49-F238E27FC236}">
                <a16:creationId xmlns:a16="http://schemas.microsoft.com/office/drawing/2014/main" id="{854A8063-8638-52CA-78F2-46572BB3C0CC}"/>
              </a:ext>
            </a:extLst>
          </p:cNvPr>
          <p:cNvSpPr/>
          <p:nvPr/>
        </p:nvSpPr>
        <p:spPr>
          <a:xfrm>
            <a:off x="4493342" y="4259734"/>
            <a:ext cx="363793" cy="294968"/>
          </a:xfrm>
          <a:prstGeom prst="rightArrow">
            <a:avLst/>
          </a:prstGeom>
          <a:ln w="25400" cmpd="sng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rostokąt 9">
            <a:extLst>
              <a:ext uri="{FF2B5EF4-FFF2-40B4-BE49-F238E27FC236}">
                <a16:creationId xmlns:a16="http://schemas.microsoft.com/office/drawing/2014/main" id="{B38C7469-7499-5690-330E-DC90FBF8F8AD}"/>
              </a:ext>
            </a:extLst>
          </p:cNvPr>
          <p:cNvSpPr/>
          <p:nvPr/>
        </p:nvSpPr>
        <p:spPr>
          <a:xfrm>
            <a:off x="4896464" y="1538657"/>
            <a:ext cx="7108723" cy="5225937"/>
          </a:xfrm>
          <a:prstGeom prst="rect">
            <a:avLst/>
          </a:prstGeom>
          <a:ln w="25400" cmpd="sng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E7E4911-29DE-9822-DEB5-5BCD24920E06}"/>
              </a:ext>
            </a:extLst>
          </p:cNvPr>
          <p:cNvSpPr txBox="1"/>
          <p:nvPr/>
        </p:nvSpPr>
        <p:spPr>
          <a:xfrm>
            <a:off x="4983569" y="3966959"/>
            <a:ext cx="6706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Trening / dostrojenie </a:t>
            </a:r>
            <a:r>
              <a:rPr lang="pl-PL" sz="1800" b="1" dirty="0" err="1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  <a:endParaRPr lang="pl-PL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3" name="Obraz 12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D89BC95A-59FC-C3A6-8E40-AE949A5DF7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569" y="4336291"/>
            <a:ext cx="4615100" cy="2396302"/>
          </a:xfrm>
          <a:prstGeom prst="rect">
            <a:avLst/>
          </a:prstGeom>
        </p:spPr>
      </p:pic>
      <p:sp>
        <p:nvSpPr>
          <p:cNvPr id="14" name="pole tekstowe 13">
            <a:extLst>
              <a:ext uri="{FF2B5EF4-FFF2-40B4-BE49-F238E27FC236}">
                <a16:creationId xmlns:a16="http://schemas.microsoft.com/office/drawing/2014/main" id="{6592EDE2-8CCA-892A-7D23-41F2F13F4E89}"/>
              </a:ext>
            </a:extLst>
          </p:cNvPr>
          <p:cNvSpPr txBox="1"/>
          <p:nvPr/>
        </p:nvSpPr>
        <p:spPr>
          <a:xfrm>
            <a:off x="3560024" y="1611002"/>
            <a:ext cx="9873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  <a:endParaRPr lang="pl-PL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088247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F9D11-CAF8-6E8B-01AC-9FDB9070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7">
            <a:extLst>
              <a:ext uri="{FF2B5EF4-FFF2-40B4-BE49-F238E27FC236}">
                <a16:creationId xmlns:a16="http://schemas.microsoft.com/office/drawing/2014/main" id="{9A860336-0AE0-059B-EFD8-0079B7806081}"/>
              </a:ext>
            </a:extLst>
          </p:cNvPr>
          <p:cNvSpPr/>
          <p:nvPr/>
        </p:nvSpPr>
        <p:spPr>
          <a:xfrm>
            <a:off x="3452506" y="34504"/>
            <a:ext cx="648512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tIns="45720" bIns="45720">
            <a:spAutoFit/>
          </a:bodyPr>
          <a:lstStyle>
            <a:lvl1pPr algn="l" defTabSz="1828800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pl-PL" b="1" dirty="0" err="1">
                <a:solidFill>
                  <a:srgbClr val="003767"/>
                </a:solidFill>
              </a:rPr>
              <a:t>Skrining</a:t>
            </a:r>
            <a:r>
              <a:rPr lang="pl-PL" b="1" dirty="0">
                <a:solidFill>
                  <a:srgbClr val="003767"/>
                </a:solidFill>
              </a:rPr>
              <a:t> raka płuca </a:t>
            </a:r>
          </a:p>
          <a:p>
            <a:r>
              <a:rPr lang="pl-PL" b="1" dirty="0">
                <a:solidFill>
                  <a:srgbClr val="E31B23"/>
                </a:solidFill>
              </a:rPr>
              <a:t>Strojenie NLP</a:t>
            </a:r>
            <a:endParaRPr b="1" dirty="0">
              <a:solidFill>
                <a:srgbClr val="E31B23"/>
              </a:solidFill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55069671-39AD-6E5C-AA15-7EBFD8091F8C}"/>
              </a:ext>
            </a:extLst>
          </p:cNvPr>
          <p:cNvSpPr txBox="1"/>
          <p:nvPr/>
        </p:nvSpPr>
        <p:spPr>
          <a:xfrm>
            <a:off x="287806" y="575654"/>
            <a:ext cx="116163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Zastosowanie podejścia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do strojenia modeli LLM w celu klasyfikacji czy opis zawiera treści potencjalnie związane z IPN (0/1, No/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Yes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</p:txBody>
      </p:sp>
      <p:pic>
        <p:nvPicPr>
          <p:cNvPr id="9" name="Obraz 8" descr="Obraz zawierający tekst, zrzut ekranu, Czcionka, oprogramowanie&#10;&#10;Zawartość wygenerowana przez AI może być niepoprawna.">
            <a:extLst>
              <a:ext uri="{FF2B5EF4-FFF2-40B4-BE49-F238E27FC236}">
                <a16:creationId xmlns:a16="http://schemas.microsoft.com/office/drawing/2014/main" id="{CAA11A47-919D-F940-891B-A32B78B06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47" y="2165847"/>
            <a:ext cx="5884250" cy="3654849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E1499FB6-D367-1380-CE21-9155521ECF13}"/>
              </a:ext>
            </a:extLst>
          </p:cNvPr>
          <p:cNvSpPr txBox="1"/>
          <p:nvPr/>
        </p:nvSpPr>
        <p:spPr>
          <a:xfrm>
            <a:off x="95447" y="1741348"/>
            <a:ext cx="36211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Zastosuj wytrenowany model:</a:t>
            </a:r>
            <a:endParaRPr lang="pl-PL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3A32C21F-6E4B-B3F1-26D4-B80DB16C9C04}"/>
              </a:ext>
            </a:extLst>
          </p:cNvPr>
          <p:cNvSpPr txBox="1"/>
          <p:nvPr/>
        </p:nvSpPr>
        <p:spPr>
          <a:xfrm>
            <a:off x="5899357" y="2129069"/>
            <a:ext cx="638113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500" b="0" i="0" dirty="0">
                <a:effectLst/>
                <a:latin typeface="Menlo" panose="020B0609030804020204" pitchFamily="49" charset="0"/>
              </a:rPr>
              <a:t>{'</a:t>
            </a:r>
            <a:r>
              <a:rPr lang="pl-PL" sz="1500" b="0" i="0" dirty="0" err="1">
                <a:effectLst/>
                <a:latin typeface="Menlo" panose="020B0609030804020204" pitchFamily="49" charset="0"/>
              </a:rPr>
              <a:t>prediction</a:t>
            </a:r>
            <a:r>
              <a:rPr lang="pl-PL" sz="1500" b="0" i="0" dirty="0">
                <a:effectLst/>
                <a:latin typeface="Menlo" panose="020B0609030804020204" pitchFamily="49" charset="0"/>
              </a:rPr>
              <a:t>': '</a:t>
            </a:r>
            <a:r>
              <a:rPr lang="pl-PL" sz="1500" b="0" i="0" dirty="0" err="1">
                <a:effectLst/>
                <a:latin typeface="Menlo" panose="020B0609030804020204" pitchFamily="49" charset="0"/>
              </a:rPr>
              <a:t>Yes</a:t>
            </a:r>
            <a:r>
              <a:rPr lang="pl-PL" sz="1500" b="0" i="0" dirty="0">
                <a:effectLst/>
                <a:latin typeface="Menlo" panose="020B0609030804020204" pitchFamily="49" charset="0"/>
              </a:rPr>
              <a:t>', '</a:t>
            </a:r>
            <a:r>
              <a:rPr lang="pl-PL" sz="1500" b="0" i="0" dirty="0" err="1">
                <a:effectLst/>
                <a:latin typeface="Menlo" panose="020B0609030804020204" pitchFamily="49" charset="0"/>
              </a:rPr>
              <a:t>prob_yes</a:t>
            </a:r>
            <a:r>
              <a:rPr lang="pl-PL" sz="1500" b="0" i="0" dirty="0">
                <a:effectLst/>
                <a:latin typeface="Menlo" panose="020B0609030804020204" pitchFamily="49" charset="0"/>
              </a:rPr>
              <a:t>': 1.0, '</a:t>
            </a:r>
            <a:r>
              <a:rPr lang="pl-PL" sz="1500" b="0" i="0" dirty="0" err="1">
                <a:effectLst/>
                <a:latin typeface="Menlo" panose="020B0609030804020204" pitchFamily="49" charset="0"/>
              </a:rPr>
              <a:t>prob_no</a:t>
            </a:r>
            <a:r>
              <a:rPr lang="pl-PL" sz="1500" b="0" i="0" dirty="0">
                <a:effectLst/>
                <a:latin typeface="Menlo" panose="020B0609030804020204" pitchFamily="49" charset="0"/>
              </a:rPr>
              <a:t>': 0.0} {'</a:t>
            </a:r>
            <a:r>
              <a:rPr lang="pl-PL" sz="1500" b="0" i="0" dirty="0" err="1">
                <a:effectLst/>
                <a:latin typeface="Menlo" panose="020B0609030804020204" pitchFamily="49" charset="0"/>
              </a:rPr>
              <a:t>prediction</a:t>
            </a:r>
            <a:r>
              <a:rPr lang="pl-PL" sz="1500" b="0" i="0" dirty="0">
                <a:effectLst/>
                <a:latin typeface="Menlo" panose="020B0609030804020204" pitchFamily="49" charset="0"/>
              </a:rPr>
              <a:t>': 'No', '</a:t>
            </a:r>
            <a:r>
              <a:rPr lang="pl-PL" sz="1500" b="0" i="0" dirty="0" err="1">
                <a:effectLst/>
                <a:latin typeface="Menlo" panose="020B0609030804020204" pitchFamily="49" charset="0"/>
              </a:rPr>
              <a:t>prob_yes</a:t>
            </a:r>
            <a:r>
              <a:rPr lang="pl-PL" sz="1500" b="0" i="0" dirty="0">
                <a:effectLst/>
                <a:latin typeface="Menlo" panose="020B0609030804020204" pitchFamily="49" charset="0"/>
              </a:rPr>
              <a:t>': 0.0, '</a:t>
            </a:r>
            <a:r>
              <a:rPr lang="pl-PL" sz="1500" b="0" i="0" dirty="0" err="1">
                <a:effectLst/>
                <a:latin typeface="Menlo" panose="020B0609030804020204" pitchFamily="49" charset="0"/>
              </a:rPr>
              <a:t>prob_no</a:t>
            </a:r>
            <a:r>
              <a:rPr lang="pl-PL" sz="1500" b="0" i="0" dirty="0">
                <a:effectLst/>
                <a:latin typeface="Menlo" panose="020B0609030804020204" pitchFamily="49" charset="0"/>
              </a:rPr>
              <a:t>': 1.0} {'</a:t>
            </a:r>
            <a:r>
              <a:rPr lang="pl-PL" sz="1500" b="0" i="0" dirty="0" err="1">
                <a:effectLst/>
                <a:latin typeface="Menlo" panose="020B0609030804020204" pitchFamily="49" charset="0"/>
              </a:rPr>
              <a:t>prediction</a:t>
            </a:r>
            <a:r>
              <a:rPr lang="pl-PL" sz="1500" b="0" i="0" dirty="0">
                <a:effectLst/>
                <a:latin typeface="Menlo" panose="020B0609030804020204" pitchFamily="49" charset="0"/>
              </a:rPr>
              <a:t>': '</a:t>
            </a:r>
            <a:r>
              <a:rPr lang="pl-PL" sz="1500" b="0" i="0" dirty="0" err="1">
                <a:effectLst/>
                <a:latin typeface="Menlo" panose="020B0609030804020204" pitchFamily="49" charset="0"/>
              </a:rPr>
              <a:t>Yes</a:t>
            </a:r>
            <a:r>
              <a:rPr lang="pl-PL" sz="1500" b="0" i="0" dirty="0">
                <a:effectLst/>
                <a:latin typeface="Menlo" panose="020B0609030804020204" pitchFamily="49" charset="0"/>
              </a:rPr>
              <a:t>', '</a:t>
            </a:r>
            <a:r>
              <a:rPr lang="pl-PL" sz="1500" b="0" i="0" dirty="0" err="1">
                <a:effectLst/>
                <a:latin typeface="Menlo" panose="020B0609030804020204" pitchFamily="49" charset="0"/>
              </a:rPr>
              <a:t>prob_yes</a:t>
            </a:r>
            <a:r>
              <a:rPr lang="pl-PL" sz="1500" b="0" i="0" dirty="0">
                <a:effectLst/>
                <a:latin typeface="Menlo" panose="020B0609030804020204" pitchFamily="49" charset="0"/>
              </a:rPr>
              <a:t>': 1.0, '</a:t>
            </a:r>
            <a:r>
              <a:rPr lang="pl-PL" sz="1500" b="0" i="0" dirty="0" err="1">
                <a:effectLst/>
                <a:latin typeface="Menlo" panose="020B0609030804020204" pitchFamily="49" charset="0"/>
              </a:rPr>
              <a:t>prob_no</a:t>
            </a:r>
            <a:r>
              <a:rPr lang="pl-PL" sz="1500" b="0" i="0" dirty="0">
                <a:effectLst/>
                <a:latin typeface="Menlo" panose="020B0609030804020204" pitchFamily="49" charset="0"/>
              </a:rPr>
              <a:t>': 0.0}</a:t>
            </a:r>
            <a:endParaRPr lang="pl-PL" sz="1500" dirty="0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AA20BA02-7228-65C9-F6B7-3F965CB3E4F2}"/>
              </a:ext>
            </a:extLst>
          </p:cNvPr>
          <p:cNvSpPr txBox="1"/>
          <p:nvPr/>
        </p:nvSpPr>
        <p:spPr>
          <a:xfrm>
            <a:off x="5979697" y="1778126"/>
            <a:ext cx="6212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Wynik (identyfikacja opisu zawierającego istotne treści): </a:t>
            </a:r>
            <a:endParaRPr lang="pl-PL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ED93F70A-7952-725B-32CB-F7A2ECB06B56}"/>
              </a:ext>
            </a:extLst>
          </p:cNvPr>
          <p:cNvSpPr txBox="1"/>
          <p:nvPr/>
        </p:nvSpPr>
        <p:spPr>
          <a:xfrm>
            <a:off x="5979696" y="3488429"/>
            <a:ext cx="611685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Wyzwania:</a:t>
            </a:r>
          </a:p>
          <a:p>
            <a:endParaRPr lang="pl-PL" sz="18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l-PL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pl-PL" b="1" dirty="0">
                <a:latin typeface="Calibri" panose="020F0502020204030204" pitchFamily="34" charset="0"/>
                <a:cs typeface="Calibri" panose="020F0502020204030204" pitchFamily="34" charset="0"/>
              </a:rPr>
              <a:t>1. Adaptacja do języka polskiego</a:t>
            </a:r>
          </a:p>
          <a:p>
            <a:r>
              <a:rPr lang="pl-PL" b="1" dirty="0">
                <a:latin typeface="Calibri" panose="020F0502020204030204" pitchFamily="34" charset="0"/>
                <a:cs typeface="Calibri" panose="020F0502020204030204" pitchFamily="34" charset="0"/>
              </a:rPr>
              <a:t>  2. Prawidłowe wykrywanie wyrażeń negatywnych, np. „Nie ma guzków” (występuje „guzków”), ”W rodzinie występowały guzki” (ale nie u pacjenta), itd.</a:t>
            </a:r>
            <a:endParaRPr lang="pl-PL" b="1" dirty="0"/>
          </a:p>
        </p:txBody>
      </p:sp>
    </p:spTree>
    <p:extLst>
      <p:ext uri="{BB962C8B-B14F-4D97-AF65-F5344CB8AC3E}">
        <p14:creationId xmlns:p14="http://schemas.microsoft.com/office/powerpoint/2010/main" val="2637424270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4B5AE-C234-7A7E-A9FE-07F85EF0B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7">
            <a:extLst>
              <a:ext uri="{FF2B5EF4-FFF2-40B4-BE49-F238E27FC236}">
                <a16:creationId xmlns:a16="http://schemas.microsoft.com/office/drawing/2014/main" id="{2B6ABFB2-3449-A48F-CF69-00507A87CC41}"/>
              </a:ext>
            </a:extLst>
          </p:cNvPr>
          <p:cNvSpPr/>
          <p:nvPr/>
        </p:nvSpPr>
        <p:spPr>
          <a:xfrm>
            <a:off x="3452506" y="34504"/>
            <a:ext cx="648512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tIns="45720" bIns="45720">
            <a:spAutoFit/>
          </a:bodyPr>
          <a:lstStyle>
            <a:lvl1pPr algn="l" defTabSz="1828800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pl-PL" b="1" dirty="0" err="1">
                <a:solidFill>
                  <a:srgbClr val="003767"/>
                </a:solidFill>
              </a:rPr>
              <a:t>Skrining</a:t>
            </a:r>
            <a:r>
              <a:rPr lang="pl-PL" b="1" dirty="0">
                <a:solidFill>
                  <a:srgbClr val="003767"/>
                </a:solidFill>
              </a:rPr>
              <a:t> raka płuca </a:t>
            </a:r>
          </a:p>
          <a:p>
            <a:r>
              <a:rPr lang="pl-PL" b="1" dirty="0">
                <a:solidFill>
                  <a:srgbClr val="E31B23"/>
                </a:solidFill>
              </a:rPr>
              <a:t>Strojenie NLP</a:t>
            </a:r>
            <a:endParaRPr b="1" dirty="0">
              <a:solidFill>
                <a:srgbClr val="E31B23"/>
              </a:solidFill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3CB413B3-735C-3447-2C22-A72AEAEE2A98}"/>
              </a:ext>
            </a:extLst>
          </p:cNvPr>
          <p:cNvSpPr txBox="1"/>
          <p:nvPr/>
        </p:nvSpPr>
        <p:spPr>
          <a:xfrm>
            <a:off x="287806" y="909950"/>
            <a:ext cx="11616387" cy="36206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Zastosowanie podejścia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do strojenia modeli LLM w celu detekcji kategorii nazw (NER –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Named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Entity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Recognition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np.: zmiana, lokalizacja, wymiary, itd.).</a:t>
            </a:r>
          </a:p>
          <a:p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• NER (Rozpoznawanie Nazwanych Jednostek) to zadanie NLP polegające na wykrywaniu i klasyfikacji nazwanych elementów w tekście.</a:t>
            </a:r>
          </a:p>
          <a:p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• Algorytmy NER uczą się wskazywać fragmenty tekstu oraz przypisywać im etykiety semantyczne.</a:t>
            </a:r>
          </a:p>
          <a:p>
            <a:r>
              <a:rPr lang="pl-PL" sz="2400" dirty="0">
                <a:solidFill>
                  <a:schemeClr val="accent2">
                    <a:lumMod val="75000"/>
                  </a:schemeClr>
                </a:solidFill>
              </a:rPr>
              <a:t>• W medycynie NER pozwala identyfikować m.in. zmiany, lokalizacje anatomii, wyniki badań i parametry kliniczne.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endParaRPr lang="pl-PL" sz="2400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Obraz 3" descr="Obraz zawierający tekst, elektronika, zrzut ekranu, multimedia&#10;&#10;Zawartość wygenerowana przez AI może być niepoprawna.">
            <a:extLst>
              <a:ext uri="{FF2B5EF4-FFF2-40B4-BE49-F238E27FC236}">
                <a16:creationId xmlns:a16="http://schemas.microsoft.com/office/drawing/2014/main" id="{9FEE46A4-C10D-8F60-3D91-73A4CD075E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8850" y="3785419"/>
            <a:ext cx="5174036" cy="3072581"/>
          </a:xfrm>
          <a:prstGeom prst="rect">
            <a:avLst/>
          </a:prstGeom>
        </p:spPr>
      </p:pic>
      <p:sp>
        <p:nvSpPr>
          <p:cNvPr id="5" name="pole tekstowe 4">
            <a:extLst>
              <a:ext uri="{FF2B5EF4-FFF2-40B4-BE49-F238E27FC236}">
                <a16:creationId xmlns:a16="http://schemas.microsoft.com/office/drawing/2014/main" id="{206A0F32-2434-BBFC-EDC4-CE1D7C21D81A}"/>
              </a:ext>
            </a:extLst>
          </p:cNvPr>
          <p:cNvSpPr txBox="1"/>
          <p:nvPr/>
        </p:nvSpPr>
        <p:spPr>
          <a:xfrm>
            <a:off x="0" y="6488668"/>
            <a:ext cx="4124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Źródło: </a:t>
            </a:r>
            <a:r>
              <a:rPr lang="pl-PL" dirty="0" err="1"/>
              <a:t>https</a:t>
            </a:r>
            <a:r>
              <a:rPr lang="pl-PL" dirty="0"/>
              <a:t>://</a:t>
            </a:r>
            <a:r>
              <a:rPr lang="pl-PL" dirty="0" err="1"/>
              <a:t>www.insightsaio.com</a:t>
            </a:r>
            <a:r>
              <a:rPr lang="pl-PL" dirty="0"/>
              <a:t>/ner/</a:t>
            </a:r>
          </a:p>
        </p:txBody>
      </p:sp>
    </p:spTree>
    <p:extLst>
      <p:ext uri="{BB962C8B-B14F-4D97-AF65-F5344CB8AC3E}">
        <p14:creationId xmlns:p14="http://schemas.microsoft.com/office/powerpoint/2010/main" val="1735349744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6A004-BF52-08B4-9C47-EE56773D5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7">
            <a:extLst>
              <a:ext uri="{FF2B5EF4-FFF2-40B4-BE49-F238E27FC236}">
                <a16:creationId xmlns:a16="http://schemas.microsoft.com/office/drawing/2014/main" id="{1A2CBFB2-0677-9C28-1302-359DBDD1ED6B}"/>
              </a:ext>
            </a:extLst>
          </p:cNvPr>
          <p:cNvSpPr/>
          <p:nvPr/>
        </p:nvSpPr>
        <p:spPr>
          <a:xfrm>
            <a:off x="3452506" y="34504"/>
            <a:ext cx="6485124" cy="707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tIns="45720" bIns="45720">
            <a:spAutoFit/>
          </a:bodyPr>
          <a:lstStyle>
            <a:lvl1pPr algn="l" defTabSz="1828800">
              <a:defRPr sz="2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r>
              <a:rPr lang="pl-PL" b="1" dirty="0" err="1">
                <a:solidFill>
                  <a:srgbClr val="003767"/>
                </a:solidFill>
              </a:rPr>
              <a:t>Skrining</a:t>
            </a:r>
            <a:r>
              <a:rPr lang="pl-PL" b="1" dirty="0">
                <a:solidFill>
                  <a:srgbClr val="003767"/>
                </a:solidFill>
              </a:rPr>
              <a:t> raka płuca </a:t>
            </a:r>
          </a:p>
          <a:p>
            <a:r>
              <a:rPr lang="pl-PL" b="1" dirty="0">
                <a:solidFill>
                  <a:srgbClr val="E31B23"/>
                </a:solidFill>
              </a:rPr>
              <a:t>Strojenie NLP</a:t>
            </a:r>
            <a:endParaRPr b="1" dirty="0">
              <a:solidFill>
                <a:srgbClr val="E31B23"/>
              </a:solidFill>
            </a:endParaRPr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9AAFF528-17A3-D010-DBFA-D62DCE8834D3}"/>
              </a:ext>
            </a:extLst>
          </p:cNvPr>
          <p:cNvSpPr txBox="1"/>
          <p:nvPr/>
        </p:nvSpPr>
        <p:spPr>
          <a:xfrm>
            <a:off x="0" y="628815"/>
            <a:ext cx="116163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Zastosowanie podejścia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LoRA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(lub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SpaCy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), do strojenia modeli LLM w celu detekcji kategorii nazw (NER –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Named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Entity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4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Recognition</a:t>
            </a:r>
            <a:r>
              <a:rPr lang="pl-PL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np.: zmiana, lokalizacja, wymiary, itd.).</a:t>
            </a:r>
          </a:p>
        </p:txBody>
      </p:sp>
      <p:pic>
        <p:nvPicPr>
          <p:cNvPr id="7" name="Obraz 6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6DACEBD6-0108-5592-98D9-BCF1D5A5B9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8" y="1823586"/>
            <a:ext cx="6017523" cy="3588829"/>
          </a:xfrm>
          <a:prstGeom prst="rect">
            <a:avLst/>
          </a:prstGeom>
        </p:spPr>
      </p:pic>
      <p:sp>
        <p:nvSpPr>
          <p:cNvPr id="9" name="pole tekstowe 8">
            <a:extLst>
              <a:ext uri="{FF2B5EF4-FFF2-40B4-BE49-F238E27FC236}">
                <a16:creationId xmlns:a16="http://schemas.microsoft.com/office/drawing/2014/main" id="{72AE7A8C-B5A3-7C37-16B8-FCDCE745D825}"/>
              </a:ext>
            </a:extLst>
          </p:cNvPr>
          <p:cNvSpPr txBox="1"/>
          <p:nvPr/>
        </p:nvSpPr>
        <p:spPr>
          <a:xfrm>
            <a:off x="6149301" y="1816425"/>
            <a:ext cx="6017523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1" dirty="0">
                <a:latin typeface="Calibri" panose="020F0502020204030204" pitchFamily="34" charset="0"/>
                <a:cs typeface="Calibri" panose="020F0502020204030204" pitchFamily="34" charset="0"/>
              </a:rPr>
              <a:t>Wyjście: </a:t>
            </a:r>
          </a:p>
          <a:p>
            <a:endParaRPr lang="pl-PL" dirty="0"/>
          </a:p>
          <a:p>
            <a:r>
              <a:rPr lang="pl-PL" dirty="0" err="1"/>
              <a:t>Saved</a:t>
            </a:r>
            <a:r>
              <a:rPr lang="pl-PL" dirty="0"/>
              <a:t> adapter &amp; </a:t>
            </a:r>
            <a:r>
              <a:rPr lang="pl-PL" dirty="0" err="1"/>
              <a:t>tokenizer</a:t>
            </a:r>
            <a:r>
              <a:rPr lang="pl-PL" dirty="0"/>
              <a:t> to ./</a:t>
            </a:r>
            <a:r>
              <a:rPr lang="pl-PL" dirty="0" err="1"/>
              <a:t>mistral_lora_medical_ner</a:t>
            </a:r>
            <a:endParaRPr lang="pl-PL" dirty="0"/>
          </a:p>
          <a:p>
            <a:r>
              <a:rPr lang="pl-PL" dirty="0"/>
              <a:t># </a:t>
            </a:r>
            <a:r>
              <a:rPr lang="pl-PL" dirty="0" err="1"/>
              <a:t>Without</a:t>
            </a:r>
            <a:r>
              <a:rPr lang="pl-PL" dirty="0"/>
              <a:t> „O”:</a:t>
            </a:r>
          </a:p>
          <a:p>
            <a:r>
              <a:rPr lang="pl-PL" b="1" dirty="0" err="1">
                <a:solidFill>
                  <a:srgbClr val="002060"/>
                </a:solidFill>
              </a:rPr>
              <a:t>Entities</a:t>
            </a:r>
            <a:r>
              <a:rPr lang="pl-PL" b="1" dirty="0">
                <a:solidFill>
                  <a:srgbClr val="002060"/>
                </a:solidFill>
              </a:rPr>
              <a:t>: [</a:t>
            </a:r>
          </a:p>
          <a:p>
            <a:r>
              <a:rPr lang="pl-PL" b="1" dirty="0">
                <a:solidFill>
                  <a:srgbClr val="002060"/>
                </a:solidFill>
              </a:rPr>
              <a:t>('Right', 'B-LATERALITY’), </a:t>
            </a:r>
          </a:p>
          <a:p>
            <a:r>
              <a:rPr lang="pl-PL" b="1" dirty="0">
                <a:solidFill>
                  <a:srgbClr val="002060"/>
                </a:solidFill>
              </a:rPr>
              <a:t>('7', 'B-SIZE’), ('mm', 'I-SIZE’), </a:t>
            </a:r>
          </a:p>
          <a:p>
            <a:r>
              <a:rPr lang="pl-PL" b="1" dirty="0">
                <a:solidFill>
                  <a:srgbClr val="002060"/>
                </a:solidFill>
              </a:rPr>
              <a:t>('nodule', 'B-LESION’), </a:t>
            </a:r>
          </a:p>
          <a:p>
            <a:r>
              <a:rPr lang="pl-PL" b="1" dirty="0">
                <a:solidFill>
                  <a:srgbClr val="002060"/>
                </a:solidFill>
              </a:rPr>
              <a:t>('</a:t>
            </a:r>
            <a:r>
              <a:rPr lang="pl-PL" b="1" dirty="0" err="1">
                <a:solidFill>
                  <a:srgbClr val="002060"/>
                </a:solidFill>
              </a:rPr>
              <a:t>right</a:t>
            </a:r>
            <a:r>
              <a:rPr lang="pl-PL" b="1" dirty="0">
                <a:solidFill>
                  <a:srgbClr val="002060"/>
                </a:solidFill>
              </a:rPr>
              <a:t>', 'B-LOCATION'), ('</a:t>
            </a:r>
            <a:r>
              <a:rPr lang="pl-PL" b="1" dirty="0" err="1">
                <a:solidFill>
                  <a:srgbClr val="002060"/>
                </a:solidFill>
              </a:rPr>
              <a:t>upper</a:t>
            </a:r>
            <a:r>
              <a:rPr lang="pl-PL" b="1" dirty="0">
                <a:solidFill>
                  <a:srgbClr val="002060"/>
                </a:solidFill>
              </a:rPr>
              <a:t>', 'I-LOCATION'), ('</a:t>
            </a:r>
            <a:r>
              <a:rPr lang="pl-PL" b="1" dirty="0" err="1">
                <a:solidFill>
                  <a:srgbClr val="002060"/>
                </a:solidFill>
              </a:rPr>
              <a:t>lobe</a:t>
            </a:r>
            <a:r>
              <a:rPr lang="pl-PL" b="1" dirty="0">
                <a:solidFill>
                  <a:srgbClr val="002060"/>
                </a:solidFill>
              </a:rPr>
              <a:t>', 'I-LOCATION')]</a:t>
            </a:r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EB01702-3B38-829D-8586-D9CD7C15F310}"/>
              </a:ext>
            </a:extLst>
          </p:cNvPr>
          <p:cNvSpPr txBox="1"/>
          <p:nvPr/>
        </p:nvSpPr>
        <p:spPr>
          <a:xfrm>
            <a:off x="0" y="5580835"/>
            <a:ext cx="6239132" cy="1141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pl-PL" sz="2400" b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Wejście: </a:t>
            </a:r>
          </a:p>
          <a:p>
            <a:pPr>
              <a:lnSpc>
                <a:spcPts val="1350"/>
              </a:lnSpc>
              <a:buNone/>
            </a:pPr>
            <a:endParaRPr lang="pl-PL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pl-PL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"Right 7 mm nodule in the </a:t>
            </a:r>
            <a:r>
              <a:rPr lang="pl-PL" sz="2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right</a:t>
            </a:r>
            <a:r>
              <a:rPr lang="pl-PL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upper</a:t>
            </a:r>
            <a:r>
              <a:rPr lang="pl-PL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lobe</a:t>
            </a:r>
            <a:r>
              <a:rPr lang="pl-PL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sz="2000" dirty="0" err="1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noted</a:t>
            </a:r>
            <a:r>
              <a:rPr lang="pl-PL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on CT."</a:t>
            </a:r>
          </a:p>
          <a:p>
            <a:pPr>
              <a:lnSpc>
                <a:spcPts val="1350"/>
              </a:lnSpc>
              <a:buNone/>
            </a:pPr>
            <a:endParaRPr lang="pl-PL" sz="200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350"/>
              </a:lnSpc>
              <a:buNone/>
            </a:pPr>
            <a:r>
              <a:rPr lang="pl-PL" sz="2000" b="1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ents</a:t>
            </a:r>
            <a:r>
              <a:rPr lang="pl-PL" sz="2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= </a:t>
            </a:r>
            <a:r>
              <a:rPr lang="pl-PL" sz="2000" b="1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ner_predict</a:t>
            </a:r>
            <a:r>
              <a:rPr lang="pl-PL" sz="2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pl-PL" sz="2000" b="1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ex_sentence</a:t>
            </a:r>
            <a:r>
              <a:rPr lang="pl-PL" sz="2000" b="1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</p:txBody>
      </p:sp>
      <p:sp>
        <p:nvSpPr>
          <p:cNvPr id="12" name="pole tekstowe 11">
            <a:extLst>
              <a:ext uri="{FF2B5EF4-FFF2-40B4-BE49-F238E27FC236}">
                <a16:creationId xmlns:a16="http://schemas.microsoft.com/office/drawing/2014/main" id="{F7DAFEF1-320C-B15C-E996-E332F5671768}"/>
              </a:ext>
            </a:extLst>
          </p:cNvPr>
          <p:cNvSpPr txBox="1"/>
          <p:nvPr/>
        </p:nvSpPr>
        <p:spPr>
          <a:xfrm>
            <a:off x="6149302" y="1451914"/>
            <a:ext cx="6212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Wynik (detekcja kategorii nazw): </a:t>
            </a:r>
            <a:endParaRPr lang="pl-PL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25A11B93-D07A-81D7-A7B4-A1FD8AD87B3E}"/>
              </a:ext>
            </a:extLst>
          </p:cNvPr>
          <p:cNvSpPr txBox="1"/>
          <p:nvPr/>
        </p:nvSpPr>
        <p:spPr>
          <a:xfrm>
            <a:off x="-15589" y="1459812"/>
            <a:ext cx="58966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Opis kategorii nazw oraz wybór zbioru danych (i trening)</a:t>
            </a:r>
            <a:endParaRPr lang="pl-PL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18" name="Obraz 17">
            <a:extLst>
              <a:ext uri="{FF2B5EF4-FFF2-40B4-BE49-F238E27FC236}">
                <a16:creationId xmlns:a16="http://schemas.microsoft.com/office/drawing/2014/main" id="{CC10CA65-9516-3756-8177-9797663A15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301" y="4978516"/>
            <a:ext cx="6017523" cy="430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951597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ai_tech_pres_light_v5_169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5400" cmpd="sng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5400" cmpd="sng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25400" cmpd="sng">
          <a:solidFill>
            <a:schemeClr val="tx1"/>
          </a:solidFill>
          <a:tailEnd type="none"/>
        </a:ln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25400" cmpd="sng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2344</TotalTime>
  <Words>720</Words>
  <Application>Microsoft Macintosh PowerPoint</Application>
  <PresentationFormat>Panoramiczny</PresentationFormat>
  <Paragraphs>72</Paragraphs>
  <Slides>8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2</vt:i4>
      </vt:variant>
      <vt:variant>
        <vt:lpstr>Tytuły slajdów</vt:lpstr>
      </vt:variant>
      <vt:variant>
        <vt:i4>8</vt:i4>
      </vt:variant>
    </vt:vector>
  </HeadingPairs>
  <TitlesOfParts>
    <vt:vector size="16" baseType="lpstr">
      <vt:lpstr>Arial</vt:lpstr>
      <vt:lpstr>Calibri</vt:lpstr>
      <vt:lpstr>Calibri Light</vt:lpstr>
      <vt:lpstr>Corbel</vt:lpstr>
      <vt:lpstr>Menlo</vt:lpstr>
      <vt:lpstr>Times New Roman</vt:lpstr>
      <vt:lpstr>ai_tech_pres_light_v5_169</vt:lpstr>
      <vt:lpstr>Motyw pakietu Office</vt:lpstr>
      <vt:lpstr>Proaktywny skrining raka płuca z wykorzystaniem AI:  dostrojenie modelu NLP do identyfikacji incydentalnych guzków płuca (IPN)  w archiwalnych opisach TK UCK GUMed.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subject/>
  <dc:creator>komp</dc:creator>
  <dc:description/>
  <cp:lastModifiedBy>Jacek Rumiński</cp:lastModifiedBy>
  <cp:revision>83</cp:revision>
  <dcterms:created xsi:type="dcterms:W3CDTF">2021-02-08T17:10:06Z</dcterms:created>
  <dcterms:modified xsi:type="dcterms:W3CDTF">2025-12-01T18:25:10Z</dcterms:modified>
  <dc:language>en-US</dc:language>
</cp:coreProperties>
</file>